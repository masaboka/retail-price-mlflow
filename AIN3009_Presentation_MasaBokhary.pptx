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88952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Development and Evaluation of a
Retail Unit Price Prediction System
using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0E4F7"/>
                </a:solidFill>
                <a:latin typeface="Calibri"/>
              </a:rPr>
              <a:t>AIN3009 – Delivering AI Applications with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Masa Bokhary  ·  ID: 2287036  ·  Bahçeşehir University
Instructor: Gökşin Bakır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Project Overview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Dataset — Online Retail 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46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Data Preprocessing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56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74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Baseline Model Training &amp; Tracking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3990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Hyperparameter Tuning with Hyperopt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402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313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331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Model Registry &amp;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546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27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246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Post-Deployment Monitoring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0690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142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160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Results &amp; Evaluation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983480"/>
            <a:ext cx="502920" cy="50292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056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074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Challenges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End-to-end MLOps with MLflow on a real retail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64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Predict the unit price (GBP)
of retail products from
transactional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7" y="1280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5" y="1353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5" y="1664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Online Retail II (UCI)
~541,000 transactions
Dec 2009 – Dec 2011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4" y="1280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2" y="1353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MLOps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2" y="1664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MLflow 2.14
Tracking · Registry
Serving ·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639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950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Ridge Regression
Random Forest
XGBoost (primary)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7" y="3566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5" y="3639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5" y="3950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Hyperopt TPE
Nested MLflow runs
6-dimensional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4" y="356616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2" y="363931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2" y="3950208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SQLite (local)
No external server
Fully self-contained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— Online Retail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UCI Machine Learning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42900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80160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234440"/>
            <a:ext cx="342900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280160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18488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Invoice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618488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664208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Invoice number ('C' prefix = cancellation)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048256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StockCode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002536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048256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Product code (5-digit + letters)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86584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432304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2386584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2432304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Product name (text)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70632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816352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Quantity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770632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2816352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Units per transaction 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54680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200400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InvoiceDate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154680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3200400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Timestamp of transaction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38728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84448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Price 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3538728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3584448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Unit price in GBP — TARGET variable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22776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968496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Customer 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3922776"/>
            <a:ext cx="3429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7912" y="3968496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Customer identifier (nullable)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06824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352544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Country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4306824"/>
            <a:ext cx="3429000" cy="38404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7912" y="4352544"/>
            <a:ext cx="3337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38 countries; UK is majority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1280160"/>
            <a:ext cx="4206240" cy="107899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7"/>
                </a:solidFill>
                <a:latin typeface="Calibri"/>
              </a:rPr>
              <a:t>Transactions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541,000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2542032"/>
            <a:ext cx="4206240" cy="107899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26334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7"/>
                </a:solidFill>
                <a:latin typeface="Calibri"/>
              </a:rPr>
              <a:t>After cleaning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29535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~135k (25% sample)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3803904"/>
            <a:ext cx="4206240" cy="107899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38953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7"/>
                </a:solidFill>
                <a:latin typeface="Calibri"/>
              </a:rPr>
              <a:t>Target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21538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log1p(Price)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5065776"/>
            <a:ext cx="4206240" cy="107899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51572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7"/>
                </a:solidFill>
                <a:latin typeface="Calibri"/>
              </a:rPr>
              <a:t>Period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47725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2009 – 2011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Six modular Python scripts — fully local, no external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6" y="2377440"/>
            <a:ext cx="1691640" cy="10058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data_prep.py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Load → Clean
→ Engineer →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368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D1E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9716" y="2377440"/>
            <a:ext cx="1691640" cy="10058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286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train_experiments.py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543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Ridge · RF · XGBoost
Baseline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964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D1E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2377440"/>
            <a:ext cx="1691640" cy="10058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82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tune_hyperopt.py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139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Hyperopt TPE
Nested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560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D1E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377440"/>
            <a:ext cx="169164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478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register_model.py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735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Best Run →
Model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156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D1E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7596" y="2377440"/>
            <a:ext cx="1691640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074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mlflow models 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31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REST API
Port 5001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752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D1E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63556" y="2377440"/>
            <a:ext cx="1691640" cy="10058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6708" y="243230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monitor_batch.py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09276" y="2779776"/>
            <a:ext cx="1618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7"/>
                </a:solidFill>
                <a:latin typeface="Calibri"/>
              </a:rPr>
              <a:t>Batch Scoring
Drift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274552" cy="502920"/>
          </a:xfrm>
          <a:prstGeom prst="rect">
            <a:avLst/>
          </a:prstGeom>
          <a:solidFill>
            <a:srgbClr val="E8F0FD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12463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C"/>
                </a:solidFill>
                <a:latin typeface="Calibri"/>
              </a:rPr>
              <a:t>🔵  All stages log to MLflow Tracking (SQLite backend) — params · metrics · artefacts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2B2B2B"/>
                </a:solidFill>
                <a:latin typeface="Calibri"/>
              </a:rPr>
              <a:t>▸ Single config.py — all paths &amp; names in one place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2B2B"/>
                </a:solidFill>
                <a:latin typeface="Calibri"/>
              </a:rPr>
              <a:t>▸ sklearn Pipeline wraps every model — same preprocessing at train / serve / monitor time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2B2B"/>
                </a:solidFill>
                <a:latin typeface="Calibri"/>
              </a:rPr>
              <a:t>▸ SQLite backend — full Model Registry without a separate MLflow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src/data_prep.py — load · clean · engineer ·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 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pd.read_csv(encoding='latin1')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Optional sample_frac (default 0.25)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~541k rows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7" y="123444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7" y="1234440"/>
            <a:ext cx="36576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7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 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17830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Drop invoices starting with 'C'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402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Remove Qty ≤ 0 or Price ≤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697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Drop nulls in Desc/StockCode/Country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31546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Strip whitespace, drop short descriptions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4" y="123444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4734" y="1234440"/>
            <a:ext cx="36576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4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 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4" y="17830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desc_len, desc_word_count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4" y="22402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stock_prefix (first 3 chars)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4" y="2697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month, day-of-week, hour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1457432" cy="502920"/>
          </a:xfrm>
          <a:prstGeom prst="rect">
            <a:avLst/>
          </a:prstGeom>
          <a:solidFill>
            <a:srgbClr val="D0E4F7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19472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  <a:latin typeface="Calibri"/>
              </a:rPr>
              <a:t>Final features:  Quantity · desc_len · desc_word_count · month · dow · hour · Country · stock_prefix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4864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ColumnTransformer:  Numeric → Median imputation + StandardScaler   |   Categorical → Mode imputation + OneHotEncoder (max 50 cats)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Baseline Model Training &amp; MLflow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src/train_experiments.py — three models, one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468880" cy="5486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167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Ridge
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0195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DA6"/>
                </a:solidFill>
                <a:latin typeface="Calibri"/>
              </a:rPr>
              <a:t>alpha =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974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Fast &amp; interpretable
L2 regularisation
Linear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28016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280160"/>
            <a:ext cx="2468880" cy="5486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3167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Random
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90195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DA6"/>
                </a:solidFill>
                <a:latin typeface="Calibri"/>
              </a:rPr>
              <a:t>120 trees
max_depth = None
n_jobs = 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6974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Non-linear ensemble
Robust to outliers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28016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280160"/>
            <a:ext cx="2468880" cy="54864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3167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190195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DA6"/>
                </a:solidFill>
                <a:latin typeface="Calibri"/>
              </a:rPr>
              <a:t>200 rounds
depth 8, lr 0.08
subsample 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6974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Gradient boosting
Primary candidate
for tuning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280160"/>
            <a:ext cx="3246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280160"/>
            <a:ext cx="3246120" cy="41148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3167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MLflow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7647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▸  Params: model_name, sample_frac,
  target_transform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3500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▸  Metrics: RMSE, MAE, R²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935224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▸  Artefact: sklearn Pipeline
  (with inferred signature)</a:t>
            </a:r>
          </a:p>
        </p:txBody>
      </p:sp>
      <p:pic>
        <p:nvPicPr>
          <p:cNvPr id="28" name="Picture 27" descr="Screenshot 1447-12-08 at 4.52.4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49039"/>
            <a:ext cx="6949440" cy="40117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0040" y="61722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MLflow UI — retail_unit_price experiment showing all baseline runs</a:t>
            </a:r>
          </a:p>
        </p:txBody>
      </p:sp>
      <p:pic>
        <p:nvPicPr>
          <p:cNvPr id="30" name="Picture 29" descr="Screenshot 1447-12-08 at 4.55.55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749039"/>
            <a:ext cx="4434840" cy="244744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06640" y="61722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Individual run — mae / r2 / rmse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MLflow Experiment Tracking — Three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Separation of concerns across lifecycle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810000" cy="47548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25880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760" y="1280160"/>
            <a:ext cx="3810000" cy="47548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912" y="1325880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280160"/>
            <a:ext cx="3810000" cy="47548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8912" y="1325880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55648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01368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retail_unit_price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1755648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912" y="1801368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Baseline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5760" y="1755648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8912" y="1801368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Ridge, RF, XGBoost runs + logged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31136"/>
            <a:ext cx="381000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276856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retail_unit_price_hyperopt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2231136"/>
            <a:ext cx="381000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8912" y="2276856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Hyperparameter tuning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2231136"/>
            <a:ext cx="3810000" cy="475488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8912" y="2276856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Parent run + nested child trials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06624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752344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retail_price_monitoring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760" y="2706624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8912" y="2752344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Post-deployment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85760" y="2706624"/>
            <a:ext cx="3810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8912" y="2752344"/>
            <a:ext cx="3718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Timestamped batch scoring runs</a:t>
            </a:r>
          </a:p>
        </p:txBody>
      </p:sp>
      <p:pic>
        <p:nvPicPr>
          <p:cNvPr id="31" name="Picture 30" descr="Screenshot 1447-12-08 at 4.52.15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88920"/>
            <a:ext cx="11338560" cy="69348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5760" y="62179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MLflow UI — Experiments page listing all three project experiments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Hyperparameter Tuning with Hyperopt TPE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src/tune_hyperopt.py — Bayesian optimisation with nested MLflow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889760" cy="41148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258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5520" y="1280160"/>
            <a:ext cx="1889760" cy="41148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8672" y="13258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280160"/>
            <a:ext cx="1889760" cy="41148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8432" y="13258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7373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max_depth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5520" y="169164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8672" y="17373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Integer uniform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69164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8432" y="17373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3 –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0312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14884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learning_rate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55520" y="210312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8672" y="214884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Log-uniform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210312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8432" y="214884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0.01 – 0.30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1460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56032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subsample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5520" y="251460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28672" y="256032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Uniform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51460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8432" y="256032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0.60 – 1.00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2608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97180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colsample_bytree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55520" y="292608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8672" y="297180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Uniform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292608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8432" y="297180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0.60 – 1.00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3756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3832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n_estimators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55520" y="333756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28672" y="33832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Integer uniform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3337560"/>
            <a:ext cx="1889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18432" y="338328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80 – 400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4904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37947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min_child_weight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55520" y="374904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28672" y="37947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Integer uniform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3749040"/>
            <a:ext cx="1889760" cy="41148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18432" y="3794760"/>
            <a:ext cx="179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1 –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128016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1280160"/>
            <a:ext cx="5486400" cy="43891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1316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TPE Algorithm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1801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Tree-structured Parzen Estimator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2176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Models p(x|good) and p(x|bad) separately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Selects next trial from p(x|good) / p(x|bad)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2926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More efficient than random or grid 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33009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HYPEROPT_MAX_EVALS = 24 (default)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3931920"/>
            <a:ext cx="548640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39684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Nested Run Pattern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462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ourier New"/>
              </a:rPr>
              <a:t>hyperopt_xgboost_parent  (parent run)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809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ourier New"/>
              </a:rPr>
              <a:t>   ├─ trial_1  →  rmse, params,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1572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ourier New"/>
              </a:rPr>
              <a:t>   ├─ trial_2  →  rmse, params,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504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ourier New"/>
              </a:rPr>
              <a:t>   ├─ ...      →  ...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852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ourier New"/>
              </a:rPr>
              <a:t>   └─ best_*   →  best params on parent</a:t>
            </a:r>
          </a:p>
        </p:txBody>
      </p:sp>
      <p:pic>
        <p:nvPicPr>
          <p:cNvPr id="64" name="Picture 63" descr="Screenshot 1447-12-08 at 4.53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886200"/>
            <a:ext cx="5760720" cy="210570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20040" y="62636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MLflow UI — retail_unit_price_hyperopt experiment with parent runs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src/register_model.py — versioned, staged model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103120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463040"/>
            <a:ext cx="2103120" cy="64008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727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463040"/>
            <a:ext cx="2103120" cy="640080"/>
          </a:xfrm>
          <a:prstGeom prst="rect">
            <a:avLst/>
          </a:prstGeom>
          <a:solidFill>
            <a:srgbClr val="27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5727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463040"/>
            <a:ext cx="2103120" cy="6400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5727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Archived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774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04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1  —  Pick best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2798064"/>
            <a:ext cx="3456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ourier New"/>
              </a:rPr>
              <a:t>Search runs by ascending RMSE
client.search_runs(order_by=['metrics.rmse ASC'])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7" y="23774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7" y="2377440"/>
            <a:ext cx="3657600" cy="36576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7" y="2404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2  —  Register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5" y="2798064"/>
            <a:ext cx="3456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ourier New"/>
              </a:rPr>
              <a:t>mlflow.register_model(uri, 'retail_price_regressor')
Auto-increments version number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4" y="23774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4" y="2377440"/>
            <a:ext cx="3657600" cy="36576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4" y="2404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3  —  Set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2" y="2798064"/>
            <a:ext cx="3456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ourier New"/>
              </a:rPr>
              <a:t>client.transition_model_version_stage()
--stage Staging  or  --stage Production</a:t>
            </a:r>
          </a:p>
        </p:txBody>
      </p:sp>
      <p:pic>
        <p:nvPicPr>
          <p:cNvPr id="30" name="Picture 29" descr="Screenshot 1447-12-08 at 4.57.5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06240"/>
            <a:ext cx="11521440" cy="707759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MLflow Model Registry — retail_price_regressor with Version 1 registered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Deployment —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mlflow models serve + src/predict_example.py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Serve Command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669280" cy="960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  <a:latin typeface="Courier New"/>
              </a:rPr>
              <a:t>mlflow models serve \
  -m models:/retail_price_regressor/1 \
  -p 5001 --no-conda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566928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Sample Request (curl)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66928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  <a:latin typeface="Courier New"/>
              </a:rPr>
              <a:t>POST /invocations
{
  "dataframe_split": {
    "columns": ["Quantity","desc_len",
                "desc_word_count","month",
                "dow","hour","Country",
                "stock_prefix"],
    "data": [[6,22,4,12,4,8,"UK","850"]]
  }
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486400" cy="41148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64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Flask/Uvicorn server at port 5001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67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Endpoint: /invocations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94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Input format: dataframe_split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Pipeline embedded → no client-side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74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Model signature enforces column names/types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764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▸  predict_example.py for scripted testing</a:t>
            </a:r>
          </a:p>
        </p:txBody>
      </p:sp>
      <p:pic>
        <p:nvPicPr>
          <p:cNvPr id="23" name="Picture 22" descr="Screenshot 1447-12-08 at 5.03.2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60520"/>
            <a:ext cx="5486400" cy="27332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Terminal — mlflow models serve running the registered model on Uvicorn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Post-Deployment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src/monitor_batch.py — batch scoring + drift detection logged to MLflow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697480" cy="43891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monitoring_rmse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92224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Root Mean Squared Error
on monitoring batch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28016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280160"/>
            <a:ext cx="2697480" cy="43891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307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monitoring_mae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792224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Mean Absolute Error
on monitoring batch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28016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280160"/>
            <a:ext cx="2697480" cy="438912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307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monitoring_mean_abs_residual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792224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Mean absolute value
of all residuals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28016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1704" y="1280160"/>
            <a:ext cx="2697480" cy="43891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3075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pred_std / target_std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1792224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Drift proxy — ratio of std
Close to 1 = healthy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548640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How Monitoring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Sample 8% held-out batch (random_state=7, different from training)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Load latest registered model from Model Registry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Score batch → compute rmse, mae, residuals, drift proxy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Log all metrics to retail_price_monitoring experiment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Run name is timestamped: monitor_YYYYMMDD_HHMM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Repeat on a schedule to track metric drift over time</a:t>
            </a:r>
          </a:p>
        </p:txBody>
      </p:sp>
      <p:pic>
        <p:nvPicPr>
          <p:cNvPr id="26" name="Picture 25" descr="Screenshot 1447-12-08 at 5.08.05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154680"/>
            <a:ext cx="5806440" cy="179750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0" y="63093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MLflow UI — retail_price_monitoring experiment with timestamped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Validation metrics in log1p(price) space — 25% sample (~135k rows)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2860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25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80160"/>
            <a:ext cx="22860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325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280160"/>
            <a:ext cx="22860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1325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280160"/>
            <a:ext cx="22860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325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280160"/>
            <a:ext cx="2286000" cy="4572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1325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373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Ridge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7373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7373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7373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7373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Linear; cannot capture non-linear 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1945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Random Forest (120)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1945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1945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1945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21945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Strong ensemble; larger artifact size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517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XGBoost (baseline)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26517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~0.33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6517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26517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~0.68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265176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2912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Best baseline; primary tuning candidate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1089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154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XGBoost (post-tuning)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1089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4912" y="3154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~0.30–0.32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1089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3154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~0.20–0.21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31089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3154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~0.70–0.72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108960"/>
            <a:ext cx="2286000" cy="457200"/>
          </a:xfrm>
          <a:prstGeom prst="rect">
            <a:avLst/>
          </a:prstGeom>
          <a:solidFill>
            <a:srgbClr val="F0F5F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82912" y="3154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3–8% RMSE improvement after Hyperopt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14800"/>
            <a:ext cx="3657600" cy="1371600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R² improvement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5537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Ridge 0.22 → XGBoost 0.68
+3× variance explained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4114800"/>
            <a:ext cx="3657600" cy="1371600"/>
          </a:xfrm>
          <a:prstGeom prst="rect">
            <a:avLst/>
          </a:prstGeom>
          <a:solidFill>
            <a:srgbClr val="27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Tuning gain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5537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Hyperopt reduces RMSE
by a further 3–8%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4114800"/>
            <a:ext cx="3657600" cy="1371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Log-space note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5537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 metrics in log1p space;
RMSE 0.33 ≈ ±39% price error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669280"/>
            <a:ext cx="11457432" cy="502920"/>
          </a:xfrm>
          <a:prstGeom prst="rect">
            <a:avLst/>
          </a:prstGeom>
          <a:solidFill>
            <a:srgbClr val="FDF0E0"/>
          </a:solidFill>
          <a:ln w="9525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724144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Calibri"/>
              </a:rPr>
              <a:t>Limitations:  Simple feature set (no text embeddings, no historical price)  ·  Random split (not time-aware)  ·  Metrics in log-space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Real issues encountered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624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macOS / 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55648"/>
            <a:ext cx="5102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libomp dependency missing on macOS.
Fix: brew install libomp
Fallback: HistGradientBoostingRegressor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30352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624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SQLite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755648"/>
            <a:ext cx="5102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iCloud Drive optimised storage causes
'readonly database' errors.
Fix: use local writable path; clear .db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530352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67328"/>
            <a:ext cx="5102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No product category in the dataset.
Solution: stock_prefix (first 3 chars)
as category proxy — effective in practice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33756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337560"/>
            <a:ext cx="530352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3741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Nested Run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767328"/>
            <a:ext cx="51023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Hyperopt objective runs inside active parent.
nested=True required; context managers
must stay open for all trials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5349240"/>
            <a:ext cx="56692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27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5349240"/>
            <a:ext cx="5669280" cy="384048"/>
          </a:xfrm>
          <a:prstGeom prst="rect">
            <a:avLst/>
          </a:prstGeom>
          <a:solidFill>
            <a:srgbClr val="27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538581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Serving Schema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5779008"/>
            <a:ext cx="54681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Column order in JSON ≠ training order.
Fix: standardise FEATURE_COLS constant;
use mlflow.models.infer_signature()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  <a:latin typeface="Calibri"/>
              </a:rPr>
              <a:t>Key takeaways from the AIN3009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64792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MLflow eliminates manual experiment bookkeeping — everything is auto-logged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Model Registry enforces a development → staging → production checkpoint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Nested runs are a clean pattern for hyperparameter search visualisation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Modular pipeline design makes monitoring trivial to add post-training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XGBoost with Hyperopt tuning achieves R² ~0.70 — strong for this feature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41148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07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64792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Text embeddings of product descriptions (TF-IDF / sentence model)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Time-based train/val split (train 2009–10, validate 2011)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Automated retraining when monitoring RMSE exceeds threshold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Docker containerisation for reproducible cloud deployment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B2B2B"/>
                </a:solidFill>
                <a:latin typeface="Calibri"/>
              </a:rPr>
              <a:t>▸ KS-test feature drift detection (no ground-truth labels needed)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212080"/>
            <a:ext cx="12188952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53492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0E4F7"/>
                </a:solidFill>
                <a:latin typeface="Calibri"/>
              </a:rPr>
              <a:t>Masa Bokhary  ·  ID 2287036  ·  AIN3009 MLOps  ·  Bahçeşehir University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